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1" r:id="rId5"/>
    <p:sldMasterId id="2147483690" r:id="rId6"/>
    <p:sldMasterId id="2147483699" r:id="rId7"/>
  </p:sldMasterIdLst>
  <p:notesMasterIdLst>
    <p:notesMasterId r:id="rId15"/>
  </p:notesMasterIdLst>
  <p:sldIdLst>
    <p:sldId id="301" r:id="rId8"/>
    <p:sldId id="493" r:id="rId9"/>
    <p:sldId id="494" r:id="rId10"/>
    <p:sldId id="495" r:id="rId11"/>
    <p:sldId id="496" r:id="rId12"/>
    <p:sldId id="497" r:id="rId13"/>
    <p:sldId id="49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E9EBF5"/>
    <a:srgbClr val="8FAADC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ys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iddels stil 4 – uthevin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6" y="2381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9-02T13:44:10.26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10790 6151 233 0,'0'0'260'15,"0"0"80"-15,0 0-60 0,0 0-59 16,0 0 147-16,0 0-238 0,0 0-3 16,0 0 35-16,-14-19-39 15,14 15 10-15,0 1 38 0,0 3-97 16,2-3-19-16,0 1-33 0,-2 0 11 16,6 2-33-16,-2-1-15 0,6 1 14 15,-2 0-2-15,4 0 0 16,0 0 3-16,-2 1 10 0,2 0-7 15,1-1 16-15,3 1 10 0,2-1-29 16,6 0 33-16,0 0-1 0,4-1-26 16,3 0 30-16,1 0-33 0,0 0 10 15,0 0-1-15,-2 1-12 0,1 0 4 16,-1 0 5-16,-6 0-9 0,2 2-33 16,-6 1 32-16,0 0-40 0,-5 1-223 15,-5 1 31-15,-4-3-123 16,-2-1-1067-16</inkml:trace>
  <inkml:trace contextRef="#ctx0" brushRef="#br0" timeOffset="681.54">12657 6125 844 0,'0'0'274'0,"0"0"-124"15,0 0 65-15,0 0 107 0,0 0-163 16,0 0-20-16,0 0 111 0,12-26-108 16,-10 24-29-16,0 1 68 0,0 1-120 15,2 0-26-15,-2 0 26 16,4 1 10-16,2 2-26 0,4 1-23 15,2 0 16-15,6 1-15 0,3-1-14 16,3-1 20-16,4 2-29 0,6-2-10 16,2 1-21-16,1-2-123 0,-3-2-452 15,-8 0-414-15</inkml:trace>
  <inkml:trace contextRef="#ctx0" brushRef="#br0" timeOffset="1504.67">14280 6130 85 0,'0'0'28'0,"0"0"31"0,0 0 84 16,0 0-29-16,0 0-101 15,0 0 66-15,0 0 175 0,0 0-85 16,0 0-25-16,0 0 198 0,-8-20-141 16,6 18 14-16,0 2 51 0,2-2-136 15,-2 0 22-15,2 1 67 16,0 0-106-16,0 0-3 0,0 1 9 15,0-1-36-15,0 1 0 0,0-1 0 16,2 0-25-16,0 0-58 0,2 1-67 16,0-1 67-16,6 0 0 0,2 1 13 15,4 0-13-15,0 0 0 0,4 0-5 16,-3 0 5-16,7 0 0 0,0 0 0 16,6 0 0-16,2 0 0 15,-3 2 1-15,3 0 9 0,-4 0-10 16,0 4-280-16,-6-4-135 0,-6 1-194 15,-4-2-1301-15</inkml:trace>
  <inkml:trace contextRef="#ctx0" brushRef="#br0" timeOffset="2527.01">16374 6104 1077 0,'0'0'146'0,"0"0"-35"0,0 0-59 15,0 0-52-15,0 0-12 0,0 0 12 16,0 0 43-16,0 0 19 16,33 0 35-16,-17 0-45 0,2 2 7 15,0-1 12-15,4 0 4 0,-2 0-17 16,6 1 14-16,1 0-70 0,3 1 1 15,0-1-2-15,0 1-1 0,-10-1-253 16,0-2-1291-16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DB1F6-55AC-4D03-BBC2-8D7FBF83D172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F0624-0A61-42DF-8F38-56261401FF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144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F0624-0A61-42DF-8F38-56261401FF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8489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905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4678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6825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674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225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59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272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0616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145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716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9972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44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64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2845"/>
            <a:ext cx="7886700" cy="29976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230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82121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41915"/>
            <a:ext cx="7886700" cy="1125140"/>
          </a:xfrm>
        </p:spPr>
        <p:txBody>
          <a:bodyPr/>
          <a:lstStyle>
            <a:lvl1pPr marL="0" indent="0">
              <a:buNone/>
              <a:defRPr sz="1620">
                <a:solidFill>
                  <a:srgbClr val="2E538D"/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489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82845"/>
            <a:ext cx="3886200" cy="301248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82845"/>
            <a:ext cx="3886200" cy="301248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77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60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010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38806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8757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8644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42901"/>
            <a:ext cx="4629150" cy="4031392"/>
          </a:xfrm>
        </p:spPr>
        <p:txBody>
          <a:bodyPr rtlCol="0">
            <a:normAutofit/>
          </a:bodyPr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3528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9429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4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34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2845"/>
            <a:ext cx="7886700" cy="29976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908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82121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41915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20">
                <a:solidFill>
                  <a:srgbClr val="2E538D"/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36708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82845"/>
            <a:ext cx="3886200" cy="3012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82845"/>
            <a:ext cx="3886200" cy="3012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68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5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824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31392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35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4723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42901"/>
            <a:ext cx="4629150" cy="403880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8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422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DFD449B-6997-4BAE-A9A2-CA57AC01F85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49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AE1FB42-BABE-46F0-B6E6-750AF857E6D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85069-4FA9-424D-8666-8832CB8EDA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9927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510F4A-9C02-413E-97CF-2E876B77463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08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5609018-4B02-453C-91FA-4BA197462B1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F6900A2-2795-46C8-8698-8F736186DC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451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060414-D520-42B3-9E0C-9FADAF9F3FC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279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E8C3DA2-7FF8-4A11-8FFF-C81B9DC3B02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D132F-D5BB-41D4-9A3B-B552DD599F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7433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6211B88-6505-48F7-A0CE-1449D7DC434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5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115F-905D-480E-AB3D-8B4015E16A50}" type="datetimeFigureOut">
              <a:rPr lang="nb-NO" smtClean="0"/>
              <a:t>01.09.2025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0885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7A0F89-2220-4943-8CD6-727C2F4D71A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D1FFB3EA-7261-4528-A734-A11E3A6FB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83018"/>
            <a:ext cx="7886700" cy="29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text styles</a:t>
            </a:r>
          </a:p>
          <a:p>
            <a:pPr lvl="1"/>
            <a:r>
              <a:rPr lang="en-GB" altLang="nb-NO"/>
              <a:t>Second level</a:t>
            </a:r>
          </a:p>
          <a:p>
            <a:pPr lvl="2"/>
            <a:r>
              <a:rPr lang="en-GB" altLang="nb-NO"/>
              <a:t>Third level</a:t>
            </a:r>
          </a:p>
          <a:p>
            <a:pPr lvl="3"/>
            <a:r>
              <a:rPr lang="en-GB" altLang="nb-NO"/>
              <a:t>Fourth level</a:t>
            </a:r>
          </a:p>
          <a:p>
            <a:pPr lvl="4"/>
            <a:r>
              <a:rPr lang="en-GB" altLang="nb-NO"/>
              <a:t>Fifth level</a:t>
            </a:r>
            <a:endParaRPr lang="en-US" altLang="nb-NO"/>
          </a:p>
        </p:txBody>
      </p:sp>
      <p:sp>
        <p:nvSpPr>
          <p:cNvPr id="2052" name="Title Placeholder 10">
            <a:extLst>
              <a:ext uri="{FF2B5EF4-FFF2-40B4-BE49-F238E27FC236}">
                <a16:creationId xmlns:a16="http://schemas.microsoft.com/office/drawing/2014/main" id="{56E673F7-3695-4EE5-A678-266AF8847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4320"/>
            <a:ext cx="7886700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title style</a:t>
            </a:r>
            <a:endParaRPr lang="nb-NO" altLang="nb-NO"/>
          </a:p>
        </p:txBody>
      </p:sp>
      <p:pic>
        <p:nvPicPr>
          <p:cNvPr id="2053" name="Picture 7">
            <a:extLst>
              <a:ext uri="{FF2B5EF4-FFF2-40B4-BE49-F238E27FC236}">
                <a16:creationId xmlns:a16="http://schemas.microsoft.com/office/drawing/2014/main" id="{A3D74368-5692-41A7-92B6-0FF154E775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8">
            <a:extLst>
              <a:ext uri="{FF2B5EF4-FFF2-40B4-BE49-F238E27FC236}">
                <a16:creationId xmlns:a16="http://schemas.microsoft.com/office/drawing/2014/main" id="{0E91281A-56F6-437D-9DD3-ED81408920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88" y="4267677"/>
            <a:ext cx="2182812" cy="87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31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979B9-A391-4674-A882-1B306D05DCF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Title Placeholder 10">
            <a:extLst>
              <a:ext uri="{FF2B5EF4-FFF2-40B4-BE49-F238E27FC236}">
                <a16:creationId xmlns:a16="http://schemas.microsoft.com/office/drawing/2014/main" id="{5D0DD87F-0B47-4A7A-A41F-34E097916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4320"/>
            <a:ext cx="7886700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title style</a:t>
            </a:r>
            <a:endParaRPr lang="nb-NO" altLang="nb-NO"/>
          </a:p>
        </p:txBody>
      </p:sp>
      <p:pic>
        <p:nvPicPr>
          <p:cNvPr id="3076" name="Picture 5">
            <a:extLst>
              <a:ext uri="{FF2B5EF4-FFF2-40B4-BE49-F238E27FC236}">
                <a16:creationId xmlns:a16="http://schemas.microsoft.com/office/drawing/2014/main" id="{4BDF5FD5-9EA0-46C9-BF55-D31C68FC42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Placeholder 2">
            <a:extLst>
              <a:ext uri="{FF2B5EF4-FFF2-40B4-BE49-F238E27FC236}">
                <a16:creationId xmlns:a16="http://schemas.microsoft.com/office/drawing/2014/main" id="{F027DB93-DB62-4946-8F8C-58DA4BC10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83018"/>
            <a:ext cx="7886700" cy="29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text styles</a:t>
            </a:r>
          </a:p>
          <a:p>
            <a:pPr lvl="1"/>
            <a:r>
              <a:rPr lang="en-GB" altLang="nb-NO"/>
              <a:t>Second level</a:t>
            </a:r>
          </a:p>
          <a:p>
            <a:pPr lvl="2"/>
            <a:r>
              <a:rPr lang="en-GB" altLang="nb-NO"/>
              <a:t>Third level</a:t>
            </a:r>
          </a:p>
          <a:p>
            <a:pPr lvl="3"/>
            <a:r>
              <a:rPr lang="en-GB" altLang="nb-NO"/>
              <a:t>Fourth level</a:t>
            </a:r>
          </a:p>
          <a:p>
            <a:pPr lvl="4"/>
            <a:r>
              <a:rPr lang="en-GB" altLang="nb-NO"/>
              <a:t>Fifth level</a:t>
            </a:r>
            <a:endParaRPr lang="en-US" altLang="nb-NO"/>
          </a:p>
        </p:txBody>
      </p:sp>
      <p:pic>
        <p:nvPicPr>
          <p:cNvPr id="3078" name="Picture 8">
            <a:extLst>
              <a:ext uri="{FF2B5EF4-FFF2-40B4-BE49-F238E27FC236}">
                <a16:creationId xmlns:a16="http://schemas.microsoft.com/office/drawing/2014/main" id="{E4F81222-F954-4F51-885F-E60E5DF44E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6" y="4280535"/>
            <a:ext cx="2265363" cy="86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422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6DAFAD-2981-4321-9EE6-3976CC5630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78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setup/windows" TargetMode="External"/><Relationship Id="rId2" Type="http://schemas.openxmlformats.org/officeDocument/2006/relationships/hyperlink" Target="https://apps.microsoft.com/detail/9n0dx20hk701?hl=nb-NO&amp;gl=N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ursor.com/downloads" TargetMode="External"/><Relationship Id="rId4" Type="http://schemas.openxmlformats.org/officeDocument/2006/relationships/hyperlink" Target="https://windsurf.com/downloa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docs.astral.sh/uv/guides/install-python/" TargetMode="External"/><Relationship Id="rId4" Type="http://schemas.openxmlformats.org/officeDocument/2006/relationships/hyperlink" Target="https://docs.astral.sh/uv/getting-started/installatio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docker.com/desktop/setup/install/windows-install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" TargetMode="External"/><Relationship Id="rId2" Type="http://schemas.openxmlformats.org/officeDocument/2006/relationships/hyperlink" Target="https://vercel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3031327B-1409-462F-8AF8-428EA9AFEE07}"/>
              </a:ext>
            </a:extLst>
          </p:cNvPr>
          <p:cNvSpPr txBox="1"/>
          <p:nvPr/>
        </p:nvSpPr>
        <p:spPr>
          <a:xfrm>
            <a:off x="3724072" y="471951"/>
            <a:ext cx="4939868" cy="96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IBE160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Programmering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med KI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Kap 2: Tools of the trade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D477589-74CB-45EB-ACE7-85719D586BC5}"/>
              </a:ext>
            </a:extLst>
          </p:cNvPr>
          <p:cNvSpPr txBox="1"/>
          <p:nvPr/>
        </p:nvSpPr>
        <p:spPr>
          <a:xfrm>
            <a:off x="3724073" y="1828800"/>
            <a:ext cx="4939867" cy="28390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68288" indent="-268288" algn="l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Installasjonslisten</a:t>
            </a:r>
          </a:p>
          <a:p>
            <a:pPr marL="268288" indent="-268288" algn="l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Hvordan henger programmene sammen?</a:t>
            </a: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Hvordan installere programmene på Windows?</a:t>
            </a: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1586337"/>
            <a:ext cx="4732020" cy="0"/>
          </a:xfrm>
          <a:prstGeom prst="line">
            <a:avLst/>
          </a:prstGeom>
          <a:ln w="19050">
            <a:solidFill>
              <a:srgbClr val="CE93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Bilde 9">
            <a:extLst>
              <a:ext uri="{FF2B5EF4-FFF2-40B4-BE49-F238E27FC236}">
                <a16:creationId xmlns:a16="http://schemas.microsoft.com/office/drawing/2014/main" id="{188A446B-4F06-A463-958B-B2F8A029D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511605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92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32"/>
    </mc:Choice>
    <mc:Fallback xmlns="">
      <p:transition spd="slow" advTm="99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9B2C0-1CFA-5472-AF4A-9CC5FAF3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6B42F6A2-89DC-C04C-111B-76929E4B0011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>
                <a:solidFill>
                  <a:schemeClr val="bg1"/>
                </a:solidFill>
              </a:rPr>
              <a:t>Installasjonslisten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41620434-D767-7E8A-12AC-29965D9FA78C}"/>
              </a:ext>
            </a:extLst>
          </p:cNvPr>
          <p:cNvSpPr txBox="1"/>
          <p:nvPr/>
        </p:nvSpPr>
        <p:spPr>
          <a:xfrm>
            <a:off x="376968" y="688042"/>
            <a:ext cx="7500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Tradisjonelle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programmer:</a:t>
            </a:r>
          </a:p>
          <a:p>
            <a:pPr lvl="0"/>
            <a:endParaRPr lang="nb-NO" sz="1400" noProof="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Operativsystem: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Windows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(Mac OS, </a:t>
            </a:r>
            <a:r>
              <a:rPr kumimoji="0" lang="nb-NO" sz="1400" b="0" i="0" u="none" strike="noStrike" kern="1200" cap="none" spc="0" normalizeH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Ubuntu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baseline="0" noProof="0" dirty="0">
                <a:solidFill>
                  <a:schemeClr val="bg1"/>
                </a:solidFill>
                <a:latin typeface="Calibri" panose="020F0502020204030204"/>
              </a:rPr>
              <a:t>Kommandolinje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applikasjoner: </a:t>
            </a:r>
            <a:r>
              <a:rPr lang="nb-NO" sz="1400" noProof="0" dirty="0">
                <a:solidFill>
                  <a:srgbClr val="FFFF00"/>
                </a:solidFill>
                <a:latin typeface="Calibri" panose="020F0502020204030204"/>
              </a:rPr>
              <a:t>CMD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(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Powershell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Bash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, Terminal)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Kodeeditorer: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VSCode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(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Windsurf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Cursor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) + viktige utvidelser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Versjonskontroll: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Git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og </a:t>
            </a:r>
            <a:r>
              <a:rPr lang="nb-NO" sz="1400" noProof="0" dirty="0" err="1">
                <a:solidFill>
                  <a:srgbClr val="FFFF00"/>
                </a:solidFill>
                <a:latin typeface="Calibri" panose="020F0502020204030204"/>
              </a:rPr>
              <a:t>Github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(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GitLab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Bitbucket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Programmeringsspråk: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NodeJS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og </a:t>
            </a: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Python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(Node og Node, Python og Python, + mange flere)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Infrastruktur: </a:t>
            </a:r>
            <a:r>
              <a:rPr lang="nb-NO" sz="1400" noProof="0" dirty="0" err="1">
                <a:solidFill>
                  <a:srgbClr val="FFFF00"/>
                </a:solidFill>
                <a:latin typeface="Calibri" panose="020F0502020204030204"/>
              </a:rPr>
              <a:t>Docker</a:t>
            </a:r>
            <a:r>
              <a:rPr lang="nb-NO" sz="1400" noProof="0" dirty="0">
                <a:solidFill>
                  <a:srgbClr val="FFFF00"/>
                </a:solidFill>
                <a:latin typeface="Calibri" panose="020F0502020204030204"/>
              </a:rPr>
              <a:t> Container 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(Virtual 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machines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Kontinuerlig integrasjon: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Github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Actions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(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Jenkins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GitLab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CI)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Publisering: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Vercel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(AWS, 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Azure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, Google 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Cloud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Prosjektledelse: 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Linear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(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Jira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,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Asana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, MS Project)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sz="1400" dirty="0">
              <a:solidFill>
                <a:schemeClr val="bg1"/>
              </a:solidFill>
              <a:latin typeface="Calibri" panose="020F0502020204030204"/>
            </a:endParaRPr>
          </a:p>
          <a:p>
            <a:pPr lvl="0"/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Nye AI-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progra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mmer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:</a:t>
            </a:r>
          </a:p>
          <a:p>
            <a:pPr lvl="0"/>
            <a:endParaRPr lang="nb-NO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</a:rPr>
              <a:t>Nettløsninger: Gemini, Claude, </a:t>
            </a:r>
            <a:r>
              <a:rPr lang="nb-NO" sz="1400" dirty="0" err="1">
                <a:solidFill>
                  <a:schemeClr val="bg1"/>
                </a:solidFill>
              </a:rPr>
              <a:t>ChatGPT</a:t>
            </a:r>
            <a:endParaRPr lang="nb-NO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</a:rPr>
              <a:t>Kodeagenter: </a:t>
            </a:r>
            <a:r>
              <a:rPr lang="nb-NO" sz="1400" dirty="0">
                <a:solidFill>
                  <a:srgbClr val="FFFF00"/>
                </a:solidFill>
              </a:rPr>
              <a:t>Gemini CLI </a:t>
            </a:r>
            <a:r>
              <a:rPr lang="nb-NO" sz="1400" dirty="0">
                <a:solidFill>
                  <a:schemeClr val="bg1"/>
                </a:solidFill>
              </a:rPr>
              <a:t>(Claude Code, Codex)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MCP-servere: Tjenester agentene kan ta i bruk etter behov (filbehandling, søk, database,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etc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)</a:t>
            </a:r>
          </a:p>
          <a:p>
            <a:pPr lvl="0"/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Håndskrift 4">
                <a:extLst>
                  <a:ext uri="{FF2B5EF4-FFF2-40B4-BE49-F238E27FC236}">
                    <a16:creationId xmlns:a16="http://schemas.microsoft.com/office/drawing/2014/main" id="{21C0C3D0-A514-DFA5-6A28-4773BD461B33}"/>
                  </a:ext>
                </a:extLst>
              </p14:cNvPr>
              <p14:cNvContentPartPr/>
              <p14:nvPr/>
            </p14:nvContentPartPr>
            <p14:xfrm>
              <a:off x="3879360" y="2194200"/>
              <a:ext cx="2127240" cy="20520"/>
            </p14:xfrm>
          </p:contentPart>
        </mc:Choice>
        <mc:Fallback>
          <p:pic>
            <p:nvPicPr>
              <p:cNvPr id="5" name="Håndskrift 4">
                <a:extLst>
                  <a:ext uri="{FF2B5EF4-FFF2-40B4-BE49-F238E27FC236}">
                    <a16:creationId xmlns:a16="http://schemas.microsoft.com/office/drawing/2014/main" id="{21C0C3D0-A514-DFA5-6A28-4773BD461B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0000" y="2184840"/>
                <a:ext cx="214596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76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26449-67FE-5C23-A3E4-8F0FFF63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7A729EE5-D0FF-595B-2E14-1EDAD4627319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Hvordan henger programmene sammen?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66F40D8-100D-2EDF-6068-972637AA1F38}"/>
              </a:ext>
            </a:extLst>
          </p:cNvPr>
          <p:cNvSpPr txBox="1"/>
          <p:nvPr/>
        </p:nvSpPr>
        <p:spPr>
          <a:xfrm>
            <a:off x="376968" y="688042"/>
            <a:ext cx="876703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1600" dirty="0">
                <a:solidFill>
                  <a:prstClr val="white"/>
                </a:solidFill>
              </a:rPr>
              <a:t>En av de store utfordringene med systemutvikling er alle de forskjellige programmene og teknologiene man må beherske. </a:t>
            </a:r>
          </a:p>
          <a:p>
            <a:pPr lvl="0"/>
            <a:endParaRPr lang="nb-NO" sz="1600" dirty="0">
              <a:solidFill>
                <a:prstClr val="white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Ikke helt ulikt store byggeprosjekter: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Fagfolk med spesifikke ferdigheter (Totalentreprenør, murer, snekker, rørlegger, </a:t>
            </a:r>
            <a:r>
              <a:rPr lang="nb-NO" sz="1600" dirty="0" err="1">
                <a:solidFill>
                  <a:prstClr val="white"/>
                </a:solidFill>
              </a:rPr>
              <a:t>etc</a:t>
            </a:r>
            <a:r>
              <a:rPr lang="nb-NO" sz="1600" dirty="0">
                <a:solidFill>
                  <a:prstClr val="white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De bruker forskjellige verktøy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Alle vet litt om hva de andre gjør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I systemutvikling er det likedan, men også noen forskjeller: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Fagfolk med spesifikke ferdigheter (produktleder, arkitekt, designer, programmerer, tester </a:t>
            </a:r>
            <a:r>
              <a:rPr lang="nb-NO" sz="1600" dirty="0" err="1">
                <a:solidFill>
                  <a:prstClr val="white"/>
                </a:solidFill>
              </a:rPr>
              <a:t>etc</a:t>
            </a:r>
            <a:r>
              <a:rPr lang="nb-NO" sz="1600" dirty="0">
                <a:solidFill>
                  <a:prstClr val="white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De bruker de SAMME verktøyene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solidFill>
                  <a:prstClr val="white"/>
                </a:solidFill>
              </a:rPr>
              <a:t>De har STOR kunnskap om hva de andre gjør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1600" dirty="0">
              <a:solidFill>
                <a:prstClr val="white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1600" dirty="0">
              <a:solidFill>
                <a:prstClr val="white"/>
              </a:solidFill>
            </a:endParaRPr>
          </a:p>
          <a:p>
            <a:r>
              <a:rPr lang="nb-NO" sz="1600" dirty="0">
                <a:solidFill>
                  <a:srgbClr val="FFFF00"/>
                </a:solidFill>
              </a:rPr>
              <a:t>Dette gjelder også for DEG! Selv om fagfolkene byttes ut med AI-agenter.</a:t>
            </a:r>
            <a:endParaRPr kumimoji="0" lang="nb-N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lvl="0"/>
            <a:endParaRPr lang="nb-NO" sz="1600" dirty="0">
              <a:solidFill>
                <a:prstClr val="white"/>
              </a:solidFill>
              <a:latin typeface="Calibri" panose="020F0502020204030204"/>
            </a:endParaRPr>
          </a:p>
          <a:p>
            <a:pPr lvl="0"/>
            <a:endParaRPr kumimoji="0" lang="nb-N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9000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2E0A6-15F2-64C1-A376-0317AD1F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D222868B-D36F-EED5-5F56-5C26A16094CC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953F110C-F9C5-E44A-442D-DCA3E9585BCF}"/>
              </a:ext>
            </a:extLst>
          </p:cNvPr>
          <p:cNvSpPr txBox="1"/>
          <p:nvPr/>
        </p:nvSpPr>
        <p:spPr>
          <a:xfrm>
            <a:off x="376968" y="688042"/>
            <a:ext cx="75000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 og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Kommandolinje: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Allerede installert.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Hvordan åpne kommandolinjen?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Hva er de vanligste kommandoene?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Bedre alternativ: 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  <a:hlinkClick r:id="rId2"/>
              </a:rPr>
              <a:t>Windows terminal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Kodeeditorer: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VSCode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(Vi bruker denne i kurset)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 err="1">
                <a:solidFill>
                  <a:prstClr val="white"/>
                </a:solidFill>
                <a:latin typeface="Calibri" panose="020F0502020204030204"/>
                <a:hlinkClick r:id="rId4"/>
              </a:rPr>
              <a:t>Windsurf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Cursor</a:t>
            </a: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Nyttige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plugins</a:t>
            </a: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 i kodeeditoren: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Python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Bedre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markdown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editor</a:t>
            </a:r>
          </a:p>
        </p:txBody>
      </p:sp>
    </p:spTree>
    <p:extLst>
      <p:ext uri="{BB962C8B-B14F-4D97-AF65-F5344CB8AC3E}">
        <p14:creationId xmlns:p14="http://schemas.microsoft.com/office/powerpoint/2010/main" val="12533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70505-957A-0387-FC61-BA58551B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FA3C11E9-4A91-F71C-CBBF-4B76CBA1B441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2400" dirty="0">
                <a:solidFill>
                  <a:prstClr val="white"/>
                </a:solidFill>
              </a:rPr>
              <a:t>WINDOWS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A6B915A1-AAD7-8DBB-1358-98BAFD9B62F1}"/>
              </a:ext>
            </a:extLst>
          </p:cNvPr>
          <p:cNvSpPr txBox="1"/>
          <p:nvPr/>
        </p:nvSpPr>
        <p:spPr>
          <a:xfrm>
            <a:off x="376968" y="688042"/>
            <a:ext cx="7500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Versjonskonstroll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Git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for Windows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Programmeringsspråk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Node.js (Windows Installer)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UV Python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package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 manager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  <a:hlinkClick r:id="rId5"/>
              </a:rPr>
              <a:t>Python installeres via UV fra kommandolinjen</a:t>
            </a: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6846B86-964B-1521-8336-6F310F75F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585" y="2807115"/>
            <a:ext cx="3727938" cy="16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6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68AB-51E1-3BC6-7A27-A891482A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2E19D0E6-EA83-07A3-9683-96AAC2F09E7D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2400" dirty="0">
                <a:solidFill>
                  <a:prstClr val="white"/>
                </a:solidFill>
              </a:rPr>
              <a:t>WINDOWS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5D453560-AEB1-3CBD-F6E8-08D879D2EAB8}"/>
              </a:ext>
            </a:extLst>
          </p:cNvPr>
          <p:cNvSpPr txBox="1"/>
          <p:nvPr/>
        </p:nvSpPr>
        <p:spPr>
          <a:xfrm>
            <a:off x="376968" y="688042"/>
            <a:ext cx="75000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Infrastruktur (kan hoppes over):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Docker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desktop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WSL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D508E713-455B-A9F1-F146-C339C05D4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816" y="1503998"/>
            <a:ext cx="4369630" cy="15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4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D0684-C9B5-FD85-DC23-521881E1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0E6A3458-9A4F-492F-DBEA-A30557E90944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2400" dirty="0">
                <a:solidFill>
                  <a:prstClr val="white"/>
                </a:solidFill>
              </a:rPr>
              <a:t>WINDOWS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A3E380A-ECC3-A805-6C86-9CA4ABAAC939}"/>
              </a:ext>
            </a:extLst>
          </p:cNvPr>
          <p:cNvSpPr txBox="1"/>
          <p:nvPr/>
        </p:nvSpPr>
        <p:spPr>
          <a:xfrm>
            <a:off x="376968" y="688042"/>
            <a:ext cx="7500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Kontinuerlig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integrasjon: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Gituhub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(kun hos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trenger ingen installasjon – koster penger)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Publisering: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Vercel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(lag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 online bruker –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tier er nok)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Prosjekledelse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prstClr val="white"/>
                </a:solidFill>
                <a:hlinkClick r:id="rId3"/>
              </a:rPr>
              <a:t>Linear</a:t>
            </a:r>
            <a:r>
              <a:rPr lang="nb-NO" sz="1400" dirty="0">
                <a:solidFill>
                  <a:prstClr val="white"/>
                </a:solidFill>
              </a:rPr>
              <a:t> (lag en online bruker – </a:t>
            </a:r>
            <a:r>
              <a:rPr lang="nb-NO" sz="1400" dirty="0" err="1">
                <a:solidFill>
                  <a:prstClr val="white"/>
                </a:solidFill>
              </a:rPr>
              <a:t>free</a:t>
            </a:r>
            <a:r>
              <a:rPr lang="nb-NO" sz="1400" dirty="0">
                <a:solidFill>
                  <a:prstClr val="white"/>
                </a:solidFill>
              </a:rPr>
              <a:t> tier er nok)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46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6.4|9.3|12|11.7|9.8|15"/>
</p:tagLst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FC0D27A6-8C85-4B07-8514-7CA103E37C78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66F180AC-352E-4E1E-A76A-79037BF98916}"/>
    </a:ext>
  </a:extLst>
</a:theme>
</file>

<file path=ppt/theme/theme4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EBB5FD9C-ABBE-40B1-A65A-6C6F8FE699E6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C0DF65-9C8F-4EE0-819D-600E58B923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0F1180-FF9C-4968-91D5-67F5F6352E36}">
  <ds:schemaRefs>
    <ds:schemaRef ds:uri="db580934-d70b-458e-a584-59f3fb567289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bcff0cbb-1375-41cf-8ab6-faf824e2692c"/>
    <ds:schemaRef ds:uri="http://purl.org/dc/dcmitype/"/>
    <ds:schemaRef ds:uri="400c38e1-b6e2-4061-96f5-3a83e4f3492a"/>
    <ds:schemaRef ds:uri="15700c87-5547-428e-a808-210cffccada0"/>
  </ds:schemaRefs>
</ds:datastoreItem>
</file>

<file path=customXml/itemProps3.xml><?xml version="1.0" encoding="utf-8"?>
<ds:datastoreItem xmlns:ds="http://schemas.openxmlformats.org/officeDocument/2006/customXml" ds:itemID="{D4911169-662F-4EAA-BE9C-C7117FE943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7779</TotalTime>
  <Words>399</Words>
  <Application>Microsoft Office PowerPoint</Application>
  <PresentationFormat>Skjermfremvisning (16:9)</PresentationFormat>
  <Paragraphs>97</Paragraphs>
  <Slides>7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TT Commons</vt:lpstr>
      <vt:lpstr>Office-tema</vt:lpstr>
      <vt:lpstr>2_Lysblå-bakgrunn</vt:lpstr>
      <vt:lpstr>3_Hvit-bakgrunn</vt:lpstr>
      <vt:lpstr>4_Blanko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Pettersen Bård Inge Austigard</dc:creator>
  <cp:lastModifiedBy>Bård Inge Austigard Pettersen</cp:lastModifiedBy>
  <cp:revision>45</cp:revision>
  <dcterms:created xsi:type="dcterms:W3CDTF">2022-01-27T08:26:26Z</dcterms:created>
  <dcterms:modified xsi:type="dcterms:W3CDTF">2025-09-03T05:03:03Z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  <property fmtid="{D5CDD505-2E9C-101B-9397-08002B2CF9AE}" pid="4" name="MSIP_Label_ee59125d-3421-490c-8c49-713131ff88a1_Enabled">
    <vt:lpwstr>true</vt:lpwstr>
  </property>
  <property fmtid="{D5CDD505-2E9C-101B-9397-08002B2CF9AE}" pid="5" name="MSIP_Label_ee59125d-3421-490c-8c49-713131ff88a1_SetDate">
    <vt:lpwstr>2025-08-27T18:32:58Z</vt:lpwstr>
  </property>
  <property fmtid="{D5CDD505-2E9C-101B-9397-08002B2CF9AE}" pid="6" name="MSIP_Label_ee59125d-3421-490c-8c49-713131ff88a1_Method">
    <vt:lpwstr>Standard</vt:lpwstr>
  </property>
  <property fmtid="{D5CDD505-2E9C-101B-9397-08002B2CF9AE}" pid="7" name="MSIP_Label_ee59125d-3421-490c-8c49-713131ff88a1_Name">
    <vt:lpwstr>Yellow</vt:lpwstr>
  </property>
  <property fmtid="{D5CDD505-2E9C-101B-9397-08002B2CF9AE}" pid="8" name="MSIP_Label_ee59125d-3421-490c-8c49-713131ff88a1_SiteId">
    <vt:lpwstr>938c1eb0-9d08-484b-92b9-53f583bd08fb</vt:lpwstr>
  </property>
  <property fmtid="{D5CDD505-2E9C-101B-9397-08002B2CF9AE}" pid="9" name="MSIP_Label_ee59125d-3421-490c-8c49-713131ff88a1_ActionId">
    <vt:lpwstr>94d38c9d-d751-4c69-bd80-c62d9fc1d161</vt:lpwstr>
  </property>
  <property fmtid="{D5CDD505-2E9C-101B-9397-08002B2CF9AE}" pid="10" name="MSIP_Label_ee59125d-3421-490c-8c49-713131ff88a1_ContentBits">
    <vt:lpwstr>0</vt:lpwstr>
  </property>
  <property fmtid="{D5CDD505-2E9C-101B-9397-08002B2CF9AE}" pid="11" name="MSIP_Label_ee59125d-3421-490c-8c49-713131ff88a1_Tag">
    <vt:lpwstr>10, 3, 0, 1</vt:lpwstr>
  </property>
</Properties>
</file>